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12899-81E4-429B-B652-5F0E77C07DC6}" type="datetimeFigureOut">
              <a:rPr lang="en-DE" smtClean="0"/>
              <a:t>22/04/2026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F1A7C-5F4B-456C-881E-FBDFD83E26B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4430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1A7C-5F4B-456C-881E-FBDFD83E26B4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4959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1A7C-5F4B-456C-881E-FBDFD83E26B4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87351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CC8"/>
                </a:solidFill>
              </a:rPr>
              <a:t>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18288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51206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CC8"/>
                </a:solidFill>
              </a:rPr>
              <a:t>Dataset — CIFAR-100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17904"/>
            <a:ext cx="329184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A1A2E"/>
                </a:solidFill>
              </a:rPr>
              <a:t>  50 000 train / 10 000 test
  100 classes, 32 × 32 </a:t>
            </a:r>
            <a:r>
              <a:rPr sz="1400" b="0" dirty="0" err="1">
                <a:solidFill>
                  <a:srgbClr val="1A1A2E"/>
                </a:solidFill>
              </a:rPr>
              <a:t>px</a:t>
            </a:r>
            <a:r>
              <a:rPr sz="1400" b="0" dirty="0">
                <a:solidFill>
                  <a:srgbClr val="1A1A2E"/>
                </a:solidFill>
              </a:rPr>
              <a:t>
  </a:t>
            </a:r>
            <a:r>
              <a:rPr sz="1400" b="0" dirty="0" err="1">
                <a:solidFill>
                  <a:srgbClr val="1A1A2E"/>
                </a:solidFill>
              </a:rPr>
              <a:t>SimCLR</a:t>
            </a:r>
            <a:r>
              <a:rPr sz="1400" b="0" dirty="0">
                <a:solidFill>
                  <a:srgbClr val="1A1A2E"/>
                </a:solidFill>
              </a:rPr>
              <a:t> augmentation:
    · Random crop + h-flip
    · </a:t>
            </a:r>
            <a:r>
              <a:rPr sz="1400" b="0" dirty="0" err="1">
                <a:solidFill>
                  <a:srgbClr val="1A1A2E"/>
                </a:solidFill>
              </a:rPr>
              <a:t>Colour</a:t>
            </a:r>
            <a:r>
              <a:rPr sz="1400" b="0" dirty="0">
                <a:solidFill>
                  <a:srgbClr val="1A1A2E"/>
                </a:solidFill>
              </a:rPr>
              <a:t> jitter
    · Gaussian blur
    · Random grayscale
  Two augmented views
   · Positive pair in </a:t>
            </a:r>
            <a:r>
              <a:rPr sz="1400" b="0" dirty="0" err="1">
                <a:solidFill>
                  <a:srgbClr val="1A1A2E"/>
                </a:solidFill>
              </a:rPr>
              <a:t>constrastive</a:t>
            </a:r>
            <a:r>
              <a:rPr sz="1400" b="0" dirty="0">
                <a:solidFill>
                  <a:srgbClr val="1A1A2E"/>
                </a:solidFill>
              </a:rPr>
              <a:t>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005840"/>
            <a:ext cx="3566160" cy="51206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3128" y="1170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CC8"/>
                </a:solidFill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1517904"/>
            <a:ext cx="329184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Encoder: ResNet-18
    · 3×3 stride-1 first conv
      (preserves 32px resolution)
    · Output: 512-d vector
  Projector (optional)
    · Linear
    · BatchNorm (optional)
    · ReLU
    · Linear
    · BatchNorm (optional)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005840"/>
            <a:ext cx="3566160" cy="51206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6176" y="1170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CC8"/>
                </a:solidFill>
              </a:rPr>
              <a:t>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1517904"/>
            <a:ext cx="329184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Loss: NT-Xent  (Temperature = 0.1)
    · 2(B-1) negatives
  Optimiser: SGD
    · Momentum 0.9
    · Weight decay 1e-4
    · (excl. BN &amp; biases)
  Schedule:
    · Warmup 10 ep -&gt; cosine annealing
    · 256 batch size  · 200 epochs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CC8"/>
                </a:solidFill>
              </a:rPr>
              <a:t>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18288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6E"/>
                </a:solidFill>
              </a:rPr>
              <a:t>Downstream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3716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500116" cy="141732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389888"/>
            <a:ext cx="51709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kNN Accuracy  (k = 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82496"/>
            <a:ext cx="51709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</a:rPr>
              <a:t>•  0 = random; 1 = perfect - tests geometric clustering of features
•  Majority class among 20 nearest neighbours
•  No training, no linear assumption - pure geometry
•  Reports Top-1 and Top-5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1298448"/>
            <a:ext cx="5500116" cy="141732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6228" y="1389888"/>
            <a:ext cx="51709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Linear Probe  (Top-1 / Top-5)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6228" y="1682496"/>
            <a:ext cx="51709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</a:rPr>
              <a:t>•  Tests whether class info is linearly readable from frozen features
•  Single linear layer on encoder output
•  Good accuracy = no non-linear decoding needed
•  Reports Top-1 and Top-5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6E"/>
                </a:solidFill>
              </a:rPr>
              <a:t>Sparsity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18104"/>
            <a:ext cx="11274552" cy="13716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191256"/>
            <a:ext cx="3624072" cy="348386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282696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Activation histograms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575304"/>
            <a:ext cx="32948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</a:rPr>
              <a:t>•  Tracks the distribution of activations
•  Overview over the feature geometry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2440" y="3191256"/>
            <a:ext cx="3624072" cy="348386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47032" y="3282696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Zero Fraction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7032" y="3575304"/>
            <a:ext cx="329488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</a:rPr>
              <a:t>•  Fraction of activations that are very small
•  High = many neurons off for a given input
•  Measures input-specific hard sparsity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7680" y="3191256"/>
            <a:ext cx="3624072" cy="348386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2272" y="3282696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Hoyer Sparsity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2272" y="3575304"/>
            <a:ext cx="32948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</a:rPr>
              <a:t>•  0 = uniform activity; 1 = single active unit
•  L1/L2 ratio - normalised to [0, 1]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272" y="4142232"/>
            <a:ext cx="2194560" cy="382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CC8"/>
                </a:solidFill>
              </a:rPr>
              <a:t>Representation Structure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18288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97889"/>
            <a:ext cx="11274552" cy="160020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3" y="1074438"/>
            <a:ext cx="7650479" cy="1094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A1A2E"/>
                </a:solidFill>
              </a:rPr>
              <a:t>•  Low within-class variance indicates </a:t>
            </a:r>
            <a:r>
              <a:rPr lang="en-US" sz="1100" b="0" dirty="0">
                <a:solidFill>
                  <a:srgbClr val="1A1A2E"/>
                </a:solidFill>
              </a:rPr>
              <a:t>tightly</a:t>
            </a:r>
            <a:r>
              <a:rPr sz="1100" b="0" dirty="0">
                <a:solidFill>
                  <a:srgbClr val="1A1A2E"/>
                </a:solidFill>
              </a:rPr>
              <a:t> clustered representations
•  High between-class variance indicates separated representations
•  The ratio between / (within + between) quantifies the amount of variability explained by class difference (bounded [0,1])</a:t>
            </a:r>
            <a:endParaRPr lang="en-US" sz="1100" dirty="0">
              <a:solidFill>
                <a:srgbClr val="1A1A2E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DE" sz="1100" b="0" dirty="0">
                <a:solidFill>
                  <a:srgbClr val="1A1A2E"/>
                </a:solidFill>
              </a:rPr>
              <a:t>•</a:t>
            </a:r>
            <a:r>
              <a:rPr lang="en-US" sz="1100" b="0" dirty="0">
                <a:solidFill>
                  <a:srgbClr val="1A1A2E"/>
                </a:solidFill>
              </a:rPr>
              <a:t>  1 =&gt; full variance explained: perfect predictor</a:t>
            </a:r>
          </a:p>
          <a:p>
            <a:pPr algn="l">
              <a:lnSpc>
                <a:spcPct val="120000"/>
              </a:lnSpc>
            </a:pPr>
            <a:r>
              <a:rPr lang="en-DE" sz="1100" b="0" dirty="0">
                <a:solidFill>
                  <a:srgbClr val="1A1A2E"/>
                </a:solidFill>
              </a:rPr>
              <a:t>•</a:t>
            </a:r>
            <a:r>
              <a:rPr lang="en-US" sz="1100" b="0" dirty="0">
                <a:solidFill>
                  <a:srgbClr val="1A1A2E"/>
                </a:solidFill>
              </a:rPr>
              <a:t>  0 =&gt; zero variance explained: just noise</a:t>
            </a:r>
            <a:endParaRPr sz="1100" b="0" dirty="0">
              <a:solidFill>
                <a:srgbClr val="1A1A2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644393"/>
            <a:ext cx="3624072" cy="366674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735833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Separability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028441"/>
            <a:ext cx="16483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2696" y="3420469"/>
            <a:ext cx="3294888" cy="1094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A1A2E"/>
                </a:solidFill>
              </a:rPr>
              <a:t>•  How strongly does a feature predict class identity?</a:t>
            </a:r>
            <a:endParaRPr lang="en-US" sz="1100" b="0" dirty="0">
              <a:solidFill>
                <a:srgbClr val="1A1A2E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DE" sz="1100" b="0" dirty="0">
                <a:solidFill>
                  <a:srgbClr val="1A1A2E"/>
                </a:solidFill>
              </a:rPr>
              <a:t>• </a:t>
            </a:r>
            <a:r>
              <a:rPr lang="en-US" sz="1100" b="0" dirty="0">
                <a:solidFill>
                  <a:srgbClr val="1A1A2E"/>
                </a:solidFill>
              </a:rPr>
              <a:t> Within-class variance</a:t>
            </a:r>
          </a:p>
          <a:p>
            <a:pPr algn="l">
              <a:lnSpc>
                <a:spcPct val="120000"/>
              </a:lnSpc>
            </a:pPr>
            <a:r>
              <a:rPr lang="en-DE" sz="1100" b="0" dirty="0">
                <a:solidFill>
                  <a:srgbClr val="1A1A2E"/>
                </a:solidFill>
              </a:rPr>
              <a:t>• </a:t>
            </a:r>
            <a:r>
              <a:rPr lang="en-US" sz="1100" b="0" dirty="0">
                <a:solidFill>
                  <a:srgbClr val="1A1A2E"/>
                </a:solidFill>
              </a:rPr>
              <a:t> Feature-specific variance between classes</a:t>
            </a:r>
            <a:r>
              <a:rPr sz="1100" b="0" dirty="0">
                <a:solidFill>
                  <a:srgbClr val="1A1A2E"/>
                </a:solidFill>
              </a:rPr>
              <a:t>
•  0 = no class signal; 1 = pure class signal
•  Averaged over all features for a scalar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2440" y="2644393"/>
            <a:ext cx="3624072" cy="366674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7032" y="2735833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Disentanglement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032" y="3028441"/>
            <a:ext cx="1010618" cy="66262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697" y="3023913"/>
            <a:ext cx="1687439" cy="497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47032" y="3906265"/>
            <a:ext cx="3294888" cy="190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A1A2E"/>
                </a:solidFill>
              </a:rPr>
              <a:t>•  Does each latent feature only represent one class?
•  R: (</a:t>
            </a:r>
            <a:r>
              <a:rPr lang="en-US" sz="1100" dirty="0">
                <a:solidFill>
                  <a:srgbClr val="1A1A2E"/>
                </a:solidFill>
              </a:rPr>
              <a:t>Latent</a:t>
            </a:r>
            <a:r>
              <a:rPr sz="1100" b="0" dirty="0">
                <a:solidFill>
                  <a:srgbClr val="1A1A2E"/>
                </a:solidFill>
              </a:rPr>
              <a:t> x Class) matrix of relative importance
•  </a:t>
            </a:r>
            <a:r>
              <a:rPr sz="1100" b="0" dirty="0" err="1">
                <a:solidFill>
                  <a:srgbClr val="1A1A2E"/>
                </a:solidFill>
              </a:rPr>
              <a:t>R_ij</a:t>
            </a:r>
            <a:r>
              <a:rPr sz="1100" b="0" dirty="0">
                <a:solidFill>
                  <a:srgbClr val="1A1A2E"/>
                </a:solidFill>
              </a:rPr>
              <a:t>: importance of feature </a:t>
            </a:r>
            <a:r>
              <a:rPr sz="1100" b="0" dirty="0" err="1">
                <a:solidFill>
                  <a:srgbClr val="1A1A2E"/>
                </a:solidFill>
              </a:rPr>
              <a:t>i</a:t>
            </a:r>
            <a:r>
              <a:rPr sz="1100" b="0" dirty="0">
                <a:solidFill>
                  <a:srgbClr val="1A1A2E"/>
                </a:solidFill>
              </a:rPr>
              <a:t> for class j
•  Here: Variance explained ratio as importance for every feature/class
•  </a:t>
            </a:r>
            <a:r>
              <a:rPr lang="en-US" sz="1100" b="0" dirty="0">
                <a:solidFill>
                  <a:srgbClr val="1A1A2E"/>
                </a:solidFill>
              </a:rPr>
              <a:t>D = </a:t>
            </a:r>
            <a:r>
              <a:rPr sz="1100" b="0" dirty="0">
                <a:solidFill>
                  <a:srgbClr val="1A1A2E"/>
                </a:solidFill>
              </a:rPr>
              <a:t>1 - per-feature entropy of normalized relative importances
•  Low entropy =&gt; Feature variance only explained by a single class =&gt; High Disentanglement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7680" y="2644393"/>
            <a:ext cx="3624072" cy="366674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2272" y="2735833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Completeness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2271" y="3028441"/>
            <a:ext cx="898361" cy="58902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3556" y="2995180"/>
            <a:ext cx="1464918" cy="5032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72272" y="3906265"/>
            <a:ext cx="3294888" cy="12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1A1A2E"/>
                </a:solidFill>
              </a:rPr>
              <a:t>•  Is each class only explained by a single latent feature?
•  Mirrored to disentanglement: 1 </a:t>
            </a:r>
            <a:r>
              <a:rPr lang="en-US" sz="1100" dirty="0">
                <a:solidFill>
                  <a:srgbClr val="1A1A2E"/>
                </a:solidFill>
              </a:rPr>
              <a:t>-</a:t>
            </a:r>
            <a:r>
              <a:rPr lang="en-US" sz="1100" b="0" dirty="0">
                <a:solidFill>
                  <a:srgbClr val="1A1A2E"/>
                </a:solidFill>
              </a:rPr>
              <a:t> per-class</a:t>
            </a:r>
            <a:r>
              <a:rPr sz="1100" b="0" dirty="0">
                <a:solidFill>
                  <a:srgbClr val="1A1A2E"/>
                </a:solidFill>
              </a:rPr>
              <a:t> entropy </a:t>
            </a:r>
            <a:r>
              <a:rPr lang="en-US" sz="1100" b="0" dirty="0">
                <a:solidFill>
                  <a:srgbClr val="1A1A2E"/>
                </a:solidFill>
              </a:rPr>
              <a:t>of </a:t>
            </a:r>
            <a:r>
              <a:rPr sz="1100" b="0" dirty="0">
                <a:solidFill>
                  <a:srgbClr val="1A1A2E"/>
                </a:solidFill>
              </a:rPr>
              <a:t>normalized relative importances
•  Low entropy =&gt; Only a single feature indicates this class identity well =&gt; High completeness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5293" y="6368261"/>
            <a:ext cx="11274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55556E"/>
                </a:solidFill>
              </a:rPr>
              <a:t>Eastwood &amp; Williams, ICLR 2018  —  "A Framework for the Quantitative Evaluation of Disentangled Representations"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624864-0DC3-CD2E-F108-9201BC0F7422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0B93CE-25BD-FA47-B9F1-73CBB9E867BB}"/>
              </a:ext>
            </a:extLst>
          </p:cNvPr>
          <p:cNvSpPr txBox="1"/>
          <p:nvPr/>
        </p:nvSpPr>
        <p:spPr>
          <a:xfrm>
            <a:off x="45720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A5CC8"/>
                </a:solidFill>
              </a:rPr>
              <a:t>Evaluation</a:t>
            </a:r>
            <a:endParaRPr sz="2800" b="1" dirty="0">
              <a:solidFill>
                <a:srgbClr val="1A5CC8"/>
              </a:solidFill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FFE78D2-D8E2-9836-B1C4-5FAE0B7B8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914602"/>
              </p:ext>
            </p:extLst>
          </p:nvPr>
        </p:nvGraphicFramePr>
        <p:xfrm>
          <a:off x="1236041" y="720372"/>
          <a:ext cx="971674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303">
                  <a:extLst>
                    <a:ext uri="{9D8B030D-6E8A-4147-A177-3AD203B41FA5}">
                      <a16:colId xmlns:a16="http://schemas.microsoft.com/office/drawing/2014/main" val="2636425890"/>
                    </a:ext>
                  </a:extLst>
                </a:gridCol>
                <a:gridCol w="1043838">
                  <a:extLst>
                    <a:ext uri="{9D8B030D-6E8A-4147-A177-3AD203B41FA5}">
                      <a16:colId xmlns:a16="http://schemas.microsoft.com/office/drawing/2014/main" val="2037027648"/>
                    </a:ext>
                  </a:extLst>
                </a:gridCol>
                <a:gridCol w="1166090">
                  <a:extLst>
                    <a:ext uri="{9D8B030D-6E8A-4147-A177-3AD203B41FA5}">
                      <a16:colId xmlns:a16="http://schemas.microsoft.com/office/drawing/2014/main" val="1070794094"/>
                    </a:ext>
                  </a:extLst>
                </a:gridCol>
                <a:gridCol w="1372976">
                  <a:extLst>
                    <a:ext uri="{9D8B030D-6E8A-4147-A177-3AD203B41FA5}">
                      <a16:colId xmlns:a16="http://schemas.microsoft.com/office/drawing/2014/main" val="754574436"/>
                    </a:ext>
                  </a:extLst>
                </a:gridCol>
                <a:gridCol w="1006223">
                  <a:extLst>
                    <a:ext uri="{9D8B030D-6E8A-4147-A177-3AD203B41FA5}">
                      <a16:colId xmlns:a16="http://schemas.microsoft.com/office/drawing/2014/main" val="832442565"/>
                    </a:ext>
                  </a:extLst>
                </a:gridCol>
                <a:gridCol w="1193257">
                  <a:extLst>
                    <a:ext uri="{9D8B030D-6E8A-4147-A177-3AD203B41FA5}">
                      <a16:colId xmlns:a16="http://schemas.microsoft.com/office/drawing/2014/main" val="2240924475"/>
                    </a:ext>
                  </a:extLst>
                </a:gridCol>
                <a:gridCol w="1602463">
                  <a:extLst>
                    <a:ext uri="{9D8B030D-6E8A-4147-A177-3AD203B41FA5}">
                      <a16:colId xmlns:a16="http://schemas.microsoft.com/office/drawing/2014/main" val="1742541271"/>
                    </a:ext>
                  </a:extLst>
                </a:gridCol>
                <a:gridCol w="1285591">
                  <a:extLst>
                    <a:ext uri="{9D8B030D-6E8A-4147-A177-3AD203B41FA5}">
                      <a16:colId xmlns:a16="http://schemas.microsoft.com/office/drawing/2014/main" val="2142357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Projector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KNN 1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Linear 1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Hoyer-Sparsity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Zero %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Separability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Disentanglement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Completeness</a:t>
                      </a:r>
                      <a:endParaRPr lang="en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04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0,5254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0,5769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0,8225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0,8356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0,1681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0,5965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0,4470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95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MLP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0,5473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0,5879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0,4612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0,2357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0,2307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0,3059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0,2154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40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MLP+BN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0,5557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0,6114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0,4277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0,1931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0,2147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0,2942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0,2124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10912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E13B422-48AA-097C-3D10-D5F4F372B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0503"/>
              </p:ext>
            </p:extLst>
          </p:nvPr>
        </p:nvGraphicFramePr>
        <p:xfrm>
          <a:off x="1236041" y="2467691"/>
          <a:ext cx="9716742" cy="1144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531">
                  <a:extLst>
                    <a:ext uri="{9D8B030D-6E8A-4147-A177-3AD203B41FA5}">
                      <a16:colId xmlns:a16="http://schemas.microsoft.com/office/drawing/2014/main" val="692043961"/>
                    </a:ext>
                  </a:extLst>
                </a:gridCol>
                <a:gridCol w="1376127">
                  <a:extLst>
                    <a:ext uri="{9D8B030D-6E8A-4147-A177-3AD203B41FA5}">
                      <a16:colId xmlns:a16="http://schemas.microsoft.com/office/drawing/2014/main" val="4033544961"/>
                    </a:ext>
                  </a:extLst>
                </a:gridCol>
                <a:gridCol w="1013988">
                  <a:extLst>
                    <a:ext uri="{9D8B030D-6E8A-4147-A177-3AD203B41FA5}">
                      <a16:colId xmlns:a16="http://schemas.microsoft.com/office/drawing/2014/main" val="3530920841"/>
                    </a:ext>
                  </a:extLst>
                </a:gridCol>
                <a:gridCol w="1204111">
                  <a:extLst>
                    <a:ext uri="{9D8B030D-6E8A-4147-A177-3AD203B41FA5}">
                      <a16:colId xmlns:a16="http://schemas.microsoft.com/office/drawing/2014/main" val="2715069496"/>
                    </a:ext>
                  </a:extLst>
                </a:gridCol>
                <a:gridCol w="1575303">
                  <a:extLst>
                    <a:ext uri="{9D8B030D-6E8A-4147-A177-3AD203B41FA5}">
                      <a16:colId xmlns:a16="http://schemas.microsoft.com/office/drawing/2014/main" val="3240053444"/>
                    </a:ext>
                  </a:extLst>
                </a:gridCol>
                <a:gridCol w="1283682">
                  <a:extLst>
                    <a:ext uri="{9D8B030D-6E8A-4147-A177-3AD203B41FA5}">
                      <a16:colId xmlns:a16="http://schemas.microsoft.com/office/drawing/2014/main" val="1790317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Projector (</a:t>
                      </a:r>
                      <a:r>
                        <a:rPr lang="en-US" sz="1400" dirty="0" err="1"/>
                        <a:t>proj_out</a:t>
                      </a:r>
                      <a:r>
                        <a:rPr lang="en-US" sz="1400" dirty="0"/>
                        <a:t>)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Hoyer-Sparsity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Zero %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Separability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Disentanglement</a:t>
                      </a:r>
                      <a:endParaRPr lang="en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Completeness</a:t>
                      </a:r>
                      <a:endParaRPr lang="en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948039"/>
                  </a:ext>
                </a:extLst>
              </a:tr>
              <a:tr h="402610">
                <a:tc>
                  <a:txBody>
                    <a:bodyPr/>
                    <a:lstStyle/>
                    <a:p>
                      <a:r>
                        <a:rPr lang="en-US" dirty="0"/>
                        <a:t>MLP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0,2200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0,2025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0,1715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24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MLP+BN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0,1822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0,1822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0,2129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282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366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35EBBC-EA9A-4BE0-228E-9282C68BEEDD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0BBC4-7065-E49E-98AD-EDCE6B6A5F77}"/>
              </a:ext>
            </a:extLst>
          </p:cNvPr>
          <p:cNvSpPr txBox="1"/>
          <p:nvPr/>
        </p:nvSpPr>
        <p:spPr>
          <a:xfrm>
            <a:off x="366666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A5CC8"/>
                </a:solidFill>
              </a:rPr>
              <a:t>Activations</a:t>
            </a:r>
            <a:endParaRPr sz="2800" b="1" dirty="0">
              <a:solidFill>
                <a:srgbClr val="1A5CC8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1320AD-63EA-875D-213E-61C99F5E5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" y="558634"/>
            <a:ext cx="12188825" cy="618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54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BFC384-DA6F-277C-A433-5F04DA09150E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9704F5-A612-10A0-665A-55FCE3A23FD4}"/>
              </a:ext>
            </a:extLst>
          </p:cNvPr>
          <p:cNvSpPr txBox="1"/>
          <p:nvPr/>
        </p:nvSpPr>
        <p:spPr>
          <a:xfrm>
            <a:off x="45720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A5CC8"/>
                </a:solidFill>
              </a:rPr>
              <a:t>Activations</a:t>
            </a:r>
            <a:endParaRPr sz="2800" b="1" dirty="0">
              <a:solidFill>
                <a:srgbClr val="1A5CC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A3730-16AD-CF52-9402-C0AAEB6E2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" y="632948"/>
            <a:ext cx="12188825" cy="618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66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294B9D-2987-BD95-A875-27143D0BDF2F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76C29-955E-7F7D-7CAE-E6BEB72BC7B6}"/>
              </a:ext>
            </a:extLst>
          </p:cNvPr>
          <p:cNvSpPr txBox="1"/>
          <p:nvPr/>
        </p:nvSpPr>
        <p:spPr>
          <a:xfrm>
            <a:off x="45720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A5CC8"/>
                </a:solidFill>
              </a:rPr>
              <a:t>Activations</a:t>
            </a:r>
            <a:endParaRPr sz="2800" b="1" dirty="0">
              <a:solidFill>
                <a:srgbClr val="1A5CC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9FC429-8957-66C2-2041-2F39A7F3D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50" y="920228"/>
            <a:ext cx="11289472" cy="501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2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91525D-884B-81C4-A3B8-743E31E9C1D4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3D483-A501-6D94-C68D-A562054533E9}"/>
              </a:ext>
            </a:extLst>
          </p:cNvPr>
          <p:cNvSpPr txBox="1"/>
          <p:nvPr/>
        </p:nvSpPr>
        <p:spPr>
          <a:xfrm>
            <a:off x="45720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A5CC8"/>
                </a:solidFill>
              </a:rPr>
              <a:t>Relative Importance Matrix</a:t>
            </a:r>
            <a:endParaRPr sz="2800" b="1" dirty="0">
              <a:solidFill>
                <a:srgbClr val="1A5CC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BA7F9-66B8-7DCA-FFE2-A0BC1093D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" y="632948"/>
            <a:ext cx="12188825" cy="30710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B29BB0-23DE-FE04-9E73-338E35CAD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" y="3677180"/>
            <a:ext cx="12188825" cy="30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60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B7FA87-137A-7190-7188-17FB9F3AD214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97FD2-479F-F4E0-D41C-5797F20FD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581" y="299979"/>
            <a:ext cx="8824522" cy="3208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BCCAFA-FE28-0CF5-4991-9B1847870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818" y="3508896"/>
            <a:ext cx="8908285" cy="323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63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77BF4D-7935-D7D5-05B6-8BB38A8AA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659" y="821180"/>
            <a:ext cx="7171506" cy="26078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051DE6-6FBA-4422-833D-802972C6C3F6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59462-4A95-A427-4A02-F3857EF4ADE9}"/>
              </a:ext>
            </a:extLst>
          </p:cNvPr>
          <p:cNvSpPr txBox="1"/>
          <p:nvPr/>
        </p:nvSpPr>
        <p:spPr>
          <a:xfrm>
            <a:off x="45720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A5CC8"/>
                </a:solidFill>
              </a:rPr>
              <a:t>Disentanglement</a:t>
            </a:r>
            <a:endParaRPr sz="2800" b="1" dirty="0">
              <a:solidFill>
                <a:srgbClr val="1A5CC8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026A9-D77D-CA93-B07C-7D9AC231C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659" y="3429000"/>
            <a:ext cx="7171506" cy="260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5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098366-4AE8-998C-A648-A072779F1321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07456-7A64-6A6F-E61F-473194C4F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33" y="242318"/>
            <a:ext cx="8966565" cy="32605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88947E-454B-4465-8290-6AD0FF97D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32" y="3229447"/>
            <a:ext cx="8886666" cy="323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38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</Words>
  <Application>Microsoft Office PowerPoint</Application>
  <PresentationFormat>Custom</PresentationFormat>
  <Paragraphs>91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Florian Haus</dc:creator>
  <cp:keywords/>
  <dc:description>generated using python-pptx</dc:description>
  <cp:lastModifiedBy>Florian Haus</cp:lastModifiedBy>
  <cp:revision>3</cp:revision>
  <dcterms:created xsi:type="dcterms:W3CDTF">2013-01-27T09:14:16Z</dcterms:created>
  <dcterms:modified xsi:type="dcterms:W3CDTF">2026-04-22T09:33:04Z</dcterms:modified>
  <cp:category/>
</cp:coreProperties>
</file>